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189720" y="1508760"/>
            <a:ext cx="1554480" cy="274320"/>
          </a:xfrm>
          <a:prstGeom prst="line">
            <a:avLst/>
          </a:prstGeom>
          <a:noFill/>
          <a:ln w="15875">
            <a:solidFill>
              <a:srgbClr val="3B4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8732520" y="1783080"/>
            <a:ext cx="457200" cy="1463040"/>
          </a:xfrm>
          <a:prstGeom prst="line">
            <a:avLst/>
          </a:prstGeom>
          <a:noFill/>
          <a:ln w="15875">
            <a:solidFill>
              <a:srgbClr val="3B4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0378440" y="1508760"/>
            <a:ext cx="365760" cy="2011680"/>
          </a:xfrm>
          <a:prstGeom prst="line">
            <a:avLst/>
          </a:prstGeom>
          <a:noFill/>
          <a:ln w="20320">
            <a:solidFill>
              <a:srgbClr val="3B5BFF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732520" y="3246120"/>
            <a:ext cx="731520" cy="1463040"/>
          </a:xfrm>
          <a:prstGeom prst="line">
            <a:avLst/>
          </a:prstGeom>
          <a:noFill/>
          <a:ln w="15875">
            <a:solidFill>
              <a:srgbClr val="3B4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464040" y="3520440"/>
            <a:ext cx="914400" cy="1188720"/>
          </a:xfrm>
          <a:prstGeom prst="line">
            <a:avLst/>
          </a:prstGeom>
          <a:noFill/>
          <a:ln w="15875">
            <a:solidFill>
              <a:srgbClr val="3B4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0" y="1645920"/>
            <a:ext cx="274320" cy="274320"/>
          </a:xfrm>
          <a:prstGeom prst="ellipse">
            <a:avLst/>
          </a:prstGeom>
          <a:solidFill>
            <a:srgbClr val="E3A25A"/>
          </a:solidFill>
          <a:ln/>
        </p:spPr>
      </p:sp>
      <p:sp>
        <p:nvSpPr>
          <p:cNvPr id="8" name="Shape 6"/>
          <p:cNvSpPr/>
          <p:nvPr/>
        </p:nvSpPr>
        <p:spPr>
          <a:xfrm>
            <a:off x="10643616" y="1408176"/>
            <a:ext cx="201168" cy="201168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9" name="Shape 7"/>
          <p:cNvSpPr/>
          <p:nvPr/>
        </p:nvSpPr>
        <p:spPr>
          <a:xfrm>
            <a:off x="8631936" y="3145536"/>
            <a:ext cx="201168" cy="201168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0" y="3383280"/>
            <a:ext cx="274320" cy="274320"/>
          </a:xfrm>
          <a:prstGeom prst="ellipse">
            <a:avLst/>
          </a:prstGeom>
          <a:solidFill>
            <a:srgbClr val="5FC79A"/>
          </a:solidFill>
          <a:ln/>
        </p:spPr>
      </p:sp>
      <p:sp>
        <p:nvSpPr>
          <p:cNvPr id="11" name="Shape 9"/>
          <p:cNvSpPr/>
          <p:nvPr/>
        </p:nvSpPr>
        <p:spPr>
          <a:xfrm>
            <a:off x="9363456" y="4608576"/>
            <a:ext cx="201168" cy="201168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DE ENGENHARIA · CI/CD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17830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test-graph-selector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7889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Seleção de testes por grafo de dependências — Java, Python e Node, um único motor determinístico.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6126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técnica  ·  visão geral do código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selecionar testes?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Suítes crescem mais rápido do que a paciência do pipeline de CI.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3429000"/>
          </a:xfrm>
          <a:prstGeom prst="roundRect">
            <a:avLst>
              <a:gd name="adj" fmla="val 3200"/>
            </a:avLst>
          </a:prstGeom>
          <a:solidFill>
            <a:srgbClr val="F1F4FC"/>
          </a:solidFill>
          <a:ln/>
          <a:effectLst>
            <a:outerShdw sx="100000" sy="100000" kx="0" ky="0" algn="bl" rotWithShape="0" blurRad="88900" dist="25400" dir="5400000">
              <a:srgbClr val="10182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ABORDAGEM TRADICIONAL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AA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60120" y="39776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suíte roda a cada Pull Request — mesmo quando 1 único arquivo mudou.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50992" y="3364992"/>
            <a:ext cx="585216" cy="585216"/>
          </a:xfrm>
          <a:prstGeom prst="ellipse">
            <a:avLst/>
          </a:prstGeom>
          <a:solidFill>
            <a:srgbClr val="3B5B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2666" y="3496666"/>
            <a:ext cx="321869" cy="32186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09360" y="1965960"/>
            <a:ext cx="5257800" cy="3429000"/>
          </a:xfrm>
          <a:prstGeom prst="roundRect">
            <a:avLst>
              <a:gd name="adj" fmla="val 3200"/>
            </a:avLst>
          </a:prstGeom>
          <a:solidFill>
            <a:srgbClr val="E4E9FF"/>
          </a:solidFill>
          <a:ln/>
          <a:effectLst>
            <a:outerShdw sx="100000" sy="100000" kx="0" ky="0" algn="bl" rotWithShape="0" blurRad="88900" dist="25400" dir="5400000">
              <a:srgbClr val="10182F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2940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TEST-GRAPH-SELECTOR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0" y="26974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teste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6629400" y="39776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B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selecionado de 4 no projeto de exemplo — exatamente o que depende do arquivo alterado.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funciona, do commit ao teste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746504" y="2788920"/>
            <a:ext cx="8851392" cy="9144"/>
          </a:xfrm>
          <a:prstGeom prst="line">
            <a:avLst/>
          </a:prstGeom>
          <a:noFill/>
          <a:ln w="19050">
            <a:solidFill>
              <a:srgbClr val="B9C2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9304" y="2331720"/>
            <a:ext cx="914400" cy="914400"/>
          </a:xfrm>
          <a:prstGeom prst="ellipse">
            <a:avLst/>
          </a:prstGeom>
          <a:solidFill>
            <a:srgbClr val="E4E9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256032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39112" y="3081528"/>
            <a:ext cx="292608" cy="292608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7" name="Text 4"/>
          <p:cNvSpPr/>
          <p:nvPr/>
        </p:nvSpPr>
        <p:spPr>
          <a:xfrm>
            <a:off x="2039112" y="3081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867912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refs Git →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arquivos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02152" y="2331720"/>
            <a:ext cx="914400" cy="914400"/>
          </a:xfrm>
          <a:prstGeom prst="ellipse">
            <a:avLst/>
          </a:prstGeom>
          <a:solidFill>
            <a:srgbClr val="E4E9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560320"/>
            <a:ext cx="457200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251960" y="3081528"/>
            <a:ext cx="292608" cy="292608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13" name="Text 9"/>
          <p:cNvSpPr/>
          <p:nvPr/>
        </p:nvSpPr>
        <p:spPr>
          <a:xfrm>
            <a:off x="4251960" y="3081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944368" y="347472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944368" y="3867912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JavaParser · ast ·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ts-morph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715000" y="2331720"/>
            <a:ext cx="914400" cy="914400"/>
          </a:xfrm>
          <a:prstGeom prst="ellipse">
            <a:avLst/>
          </a:prstGeom>
          <a:solidFill>
            <a:srgbClr val="E4E9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560320"/>
            <a:ext cx="457200" cy="4572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464808" y="3081528"/>
            <a:ext cx="292608" cy="292608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19" name="Text 14"/>
          <p:cNvSpPr/>
          <p:nvPr/>
        </p:nvSpPr>
        <p:spPr>
          <a:xfrm>
            <a:off x="6464808" y="3081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157216" y="347472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157216" y="3867912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nós + arestas de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927848" y="2331720"/>
            <a:ext cx="914400" cy="914400"/>
          </a:xfrm>
          <a:prstGeom prst="ellipse">
            <a:avLst/>
          </a:prstGeom>
          <a:solidFill>
            <a:srgbClr val="E4E9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560320"/>
            <a:ext cx="457200" cy="4572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677656" y="3081528"/>
            <a:ext cx="292608" cy="292608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25" name="Text 19"/>
          <p:cNvSpPr/>
          <p:nvPr/>
        </p:nvSpPr>
        <p:spPr>
          <a:xfrm>
            <a:off x="8677656" y="3081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370064" y="347472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reversa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370064" y="3867912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depende do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mudou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10140696" y="2331720"/>
            <a:ext cx="914400" cy="914400"/>
          </a:xfrm>
          <a:prstGeom prst="ellipse">
            <a:avLst/>
          </a:prstGeom>
          <a:solidFill>
            <a:srgbClr val="E4E9F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296" y="2560320"/>
            <a:ext cx="457200" cy="45720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10890504" y="3081528"/>
            <a:ext cx="292608" cy="292608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1" name="Text 24"/>
          <p:cNvSpPr/>
          <p:nvPr/>
        </p:nvSpPr>
        <p:spPr>
          <a:xfrm>
            <a:off x="10890504" y="3081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9582912" y="347472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9582912" y="3867912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mvn / gradle /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/ jest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motor, três linguagens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linguagem constrói o grafo à sua maneira; o motor de seleção é o mesmo para todas.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1F4FC"/>
          </a:solidFill>
          <a:ln/>
          <a:effectLst>
            <a:outerShdw sx="100000" sy="100000" kx="0" ky="0" algn="bl" rotWithShape="0" blurRad="88900" dist="25400" dir="5400000">
              <a:srgbClr val="10182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1947672"/>
            <a:ext cx="731520" cy="731520"/>
          </a:xfrm>
          <a:prstGeom prst="ellipse">
            <a:avLst/>
          </a:prstGeom>
          <a:solidFill>
            <a:srgbClr val="E4E9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420" y="21305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770632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3227832"/>
            <a:ext cx="2935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50" kern="0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
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JavaParser + Symbol Solver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32688" y="3941064"/>
            <a:ext cx="2935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50" kern="0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GRANULARIDADE
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método/classe — call graph real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32688" y="4654296"/>
            <a:ext cx="2935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50" kern="0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 AO MOTOR VIA
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--src (direto, em memória)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53128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1F4FC"/>
          </a:solidFill>
          <a:ln/>
          <a:effectLst>
            <a:outerShdw sx="100000" sy="100000" kx="0" ky="0" algn="bl" rotWithShape="0" blurRad="88900" dist="25400" dir="5400000">
              <a:srgbClr val="10182F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47588" y="1947672"/>
            <a:ext cx="731520" cy="731520"/>
          </a:xfrm>
          <a:prstGeom prst="ellipse">
            <a:avLst/>
          </a:prstGeom>
          <a:solidFill>
            <a:srgbClr val="E4E9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468" y="213055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45736" y="2770632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45736" y="3227832"/>
            <a:ext cx="2935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50" kern="0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
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ast (stdlib)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745736" y="3941064"/>
            <a:ext cx="2935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50" kern="0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GRANULARIDADE
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— grafo de imports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45736" y="4654296"/>
            <a:ext cx="2935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50" kern="0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 AO MOTOR VIA
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--graph-json (arquivo)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266176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1F4FC"/>
          </a:solidFill>
          <a:ln/>
          <a:effectLst>
            <a:outerShdw sx="100000" sy="100000" kx="0" ky="0" algn="bl" rotWithShape="0" blurRad="88900" dist="25400" dir="5400000">
              <a:srgbClr val="10182F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660636" y="1947672"/>
            <a:ext cx="731520" cy="731520"/>
          </a:xfrm>
          <a:prstGeom prst="ellipse">
            <a:avLst/>
          </a:prstGeom>
          <a:solidFill>
            <a:srgbClr val="E4E9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3516" y="213055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58784" y="2770632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(TS/JS)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558784" y="3227832"/>
            <a:ext cx="2935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50" kern="0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
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ts-morph (compilador TS)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558784" y="3941064"/>
            <a:ext cx="2935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50" kern="0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GRANULARIDADE
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— grafo de imports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558784" y="4654296"/>
            <a:ext cx="2935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spc="50" kern="0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 AO MOTOR VIA
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--graph-json (arquivo)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motor central: grafo + travessia reversa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DependencyGraph.ancestorsOf(nó)
</a:t>
            </a:r>
            <a:endParaRPr lang="en-US" sz="15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inverte o grafo e faz uma busca em largura (BFS) a partir do arquivo alterado — encontra tudo que depende dele, direta ou indiretamente.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TestSelector
</a:t>
            </a:r>
            <a:endParaRPr lang="en-US" sz="15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filtra, entre esses dependentes, apenas os nós marcados como teste — e guarda qual mudança justificou cada seleção.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25196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Agnóstico de linguagem
</a:t>
            </a:r>
            <a:endParaRPr lang="en-US" sz="15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motor só enxerga nós e arestas; uma quarta linguagem só precisa de um novo extrator, sem tocar o motor.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417320"/>
            <a:ext cx="5074920" cy="4892040"/>
          </a:xfrm>
          <a:prstGeom prst="roundRect">
            <a:avLst>
              <a:gd name="adj" fmla="val 2243"/>
            </a:avLst>
          </a:prstGeom>
          <a:solidFill>
            <a:srgbClr val="F1F4FC"/>
          </a:solidFill>
          <a:ln/>
          <a:effectLst>
            <a:outerShdw sx="100000" sy="100000" kx="0" ky="0" algn="bl" rotWithShape="0" blurRad="88900" dist="25400" dir="5400000">
              <a:srgbClr val="10182F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REAL — examples/sample-java-project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0" y="228600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DFF3E9"/>
          </a:solidFill>
          <a:ln w="15240">
            <a:solidFill>
              <a:srgbClr val="1E8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CalculatorTest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0" y="26334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8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0" y="365760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FBEBD8"/>
          </a:solidFill>
          <a:ln w="15240">
            <a:solidFill>
              <a:srgbClr val="B063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3657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6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40050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6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2880360"/>
            <a:ext cx="9144" cy="777240"/>
          </a:xfrm>
          <a:prstGeom prst="line">
            <a:avLst/>
          </a:prstGeom>
          <a:noFill/>
          <a:ln w="19050">
            <a:solidFill>
              <a:srgbClr val="3B5BF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092440" y="29992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ancestorsOf()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509760" y="22860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2286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LoggerTest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09760" y="36576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0" y="4251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relação com a mudança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2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9105" y="1143000"/>
            <a:ext cx="914400" cy="914400"/>
          </a:xfrm>
          <a:prstGeom prst="ellipse">
            <a:avLst/>
          </a:prstGeom>
          <a:solidFill>
            <a:srgbClr val="2434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705" y="1371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33172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entrada → mesma saída, sempre.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828800" y="342900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9D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LLM, embedding ou classificador no caminho crítico. Seleção de testes em CI precisa ser auditável e reprodutível — decisão de projeto, não lacuna. Confirmado pelas dependências reais: JavaParser, JGraphT, Jackson, picocli.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conhecidas (documentadas)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67512" y="1508760"/>
            <a:ext cx="585216" cy="585216"/>
          </a:xfrm>
          <a:prstGeom prst="ellipse">
            <a:avLst/>
          </a:prstGeom>
          <a:solidFill>
            <a:srgbClr val="FBEB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186" y="1640434"/>
            <a:ext cx="321869" cy="3218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17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+ Spring/CDI  — 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chamadas via injeção por interface (@Autowired, @Inject) resolvem para a interface, não para a implementação concreta — pode gerar falso negativo.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7512" y="2560320"/>
            <a:ext cx="585216" cy="585216"/>
          </a:xfrm>
          <a:prstGeom prst="ellipse">
            <a:avLst/>
          </a:prstGeom>
          <a:solidFill>
            <a:srgbClr val="FBEBD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86" y="2691994"/>
            <a:ext cx="321869" cy="3218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— 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de imports, não de chamadas — mais testes rodam do que o estritamente necessário (falso positivo, lado mais seguro).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67512" y="3611880"/>
            <a:ext cx="585216" cy="585216"/>
          </a:xfrm>
          <a:prstGeom prst="ellipse">
            <a:avLst/>
          </a:prstGeom>
          <a:solidFill>
            <a:srgbClr val="FBEBD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6" y="3743554"/>
            <a:ext cx="321869" cy="3218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520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(TS/JS)  — 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require()/import dinâmico ou condicional não é resolvido pelo ts-morph nesse modo.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67512" y="4663440"/>
            <a:ext cx="585216" cy="585216"/>
          </a:xfrm>
          <a:prstGeom prst="ellipse">
            <a:avLst/>
          </a:prstGeom>
          <a:solidFill>
            <a:srgbClr val="FBEBD8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6" y="4795114"/>
            <a:ext cx="321869" cy="32186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4572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82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cache  — 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grafo é reconstruído do zero a cada execução, nas três linguagens — próximo passo natural para repositórios grandes.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2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212080"/>
            <a:ext cx="1005840" cy="411480"/>
          </a:xfrm>
          <a:prstGeom prst="line">
            <a:avLst/>
          </a:prstGeom>
          <a:noFill/>
          <a:ln w="15875">
            <a:solidFill>
              <a:srgbClr val="3B4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10835640" y="5623560"/>
            <a:ext cx="502920" cy="502920"/>
          </a:xfrm>
          <a:prstGeom prst="line">
            <a:avLst/>
          </a:prstGeom>
          <a:noFill/>
          <a:ln w="15875">
            <a:solidFill>
              <a:srgbClr val="3B4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5212080"/>
            <a:ext cx="502920" cy="914400"/>
          </a:xfrm>
          <a:prstGeom prst="line">
            <a:avLst/>
          </a:prstGeom>
          <a:noFill/>
          <a:ln w="15875">
            <a:solidFill>
              <a:srgbClr val="3B4A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50424" y="5129784"/>
            <a:ext cx="164592" cy="164592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6" name="Shape 4"/>
          <p:cNvSpPr/>
          <p:nvPr/>
        </p:nvSpPr>
        <p:spPr>
          <a:xfrm>
            <a:off x="11228832" y="5513832"/>
            <a:ext cx="219456" cy="219456"/>
          </a:xfrm>
          <a:prstGeom prst="ellipse">
            <a:avLst/>
          </a:prstGeom>
          <a:solidFill>
            <a:srgbClr val="5FC79A"/>
          </a:solidFill>
          <a:ln/>
        </p:spPr>
      </p:sp>
      <p:sp>
        <p:nvSpPr>
          <p:cNvPr id="7" name="Shape 5"/>
          <p:cNvSpPr/>
          <p:nvPr/>
        </p:nvSpPr>
        <p:spPr>
          <a:xfrm>
            <a:off x="10753344" y="6044184"/>
            <a:ext cx="164592" cy="164592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685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fica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24345E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920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Determinístico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entrada, mesma saída — sem variância de IA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26280" y="16916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24345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920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linguagens, 1 motor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54880" y="2468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Java, Python e Node sobre o mesmo grafo/BFS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69164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24345E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920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mais rápido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58200" y="2468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 só o teste que depende do que mudou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9D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 natural: cachear o grafo entre execuções de CI e reindexar só o que mudou desde o último cache.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2026-09-21T21:59:53Z</dcterms:created>
  <dcterms:modified xsi:type="dcterms:W3CDTF">2026-09-21T21:59:53Z</dcterms:modified>
</cp:coreProperties>
</file>